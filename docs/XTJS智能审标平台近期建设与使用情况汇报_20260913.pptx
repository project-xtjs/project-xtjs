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365760"/>
            <a:ext cx="3840480" cy="38404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2926080" cy="292608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589520" y="91440"/>
            <a:ext cx="4206240" cy="6035040"/>
          </a:xfrm>
          <a:prstGeom prst="line">
            <a:avLst/>
          </a:prstGeom>
          <a:ln w="10160">
            <a:solidFill>
              <a:srgbClr val="2A3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65008" y="91440"/>
            <a:ext cx="3593592" cy="6035040"/>
          </a:xfrm>
          <a:prstGeom prst="line">
            <a:avLst/>
          </a:prstGeom>
          <a:ln w="10160">
            <a:solidFill>
              <a:srgbClr val="2A3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40496" y="91440"/>
            <a:ext cx="2980944" cy="6035040"/>
          </a:xfrm>
          <a:prstGeom prst="line">
            <a:avLst/>
          </a:prstGeom>
          <a:ln w="10160">
            <a:solidFill>
              <a:srgbClr val="2A3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15984" y="91440"/>
            <a:ext cx="2368296" cy="6035040"/>
          </a:xfrm>
          <a:prstGeom prst="line">
            <a:avLst/>
          </a:prstGeom>
          <a:ln w="10160">
            <a:solidFill>
              <a:srgbClr val="2A3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91472" y="91440"/>
            <a:ext cx="1755648" cy="6035040"/>
          </a:xfrm>
          <a:prstGeom prst="line">
            <a:avLst/>
          </a:prstGeom>
          <a:ln w="10160">
            <a:solidFill>
              <a:srgbClr val="2A3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66960" y="91440"/>
            <a:ext cx="1143000" cy="6035040"/>
          </a:xfrm>
          <a:prstGeom prst="line">
            <a:avLst/>
          </a:prstGeom>
          <a:ln w="10160">
            <a:solidFill>
              <a:srgbClr val="2A3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" y="566928"/>
            <a:ext cx="1234440" cy="420624"/>
          </a:xfrm>
          <a:prstGeom prst="roundRect">
            <a:avLst>
              <a:gd name="adj" fmla="val 12000"/>
            </a:avLst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179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A1530"/>
                </a:solidFill>
                <a:latin typeface="Microsoft YaHei"/>
              </a:rPr>
              <a:t>XTJS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490472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B9C6E0"/>
                </a:solidFill>
                <a:latin typeface="Microsoft YaHei"/>
              </a:rPr>
              <a:t>信投建设智能审标平台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21408"/>
            <a:ext cx="76809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1">
                <a:solidFill>
                  <a:srgbClr val="FFFFFF"/>
                </a:solidFill>
                <a:latin typeface="Microsoft YaHei"/>
              </a:rPr>
              <a:t>近期建设与使用情况汇报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C2D7"/>
                </a:solidFill>
                <a:latin typeface="Microsoft YaHei"/>
              </a:rPr>
              <a:t>从“可用”走向“可验收、可追溯、可运维”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4114800"/>
            <a:ext cx="6217920" cy="5029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59028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9C6E0"/>
                </a:solidFill>
                <a:latin typeface="Microsoft YaHei"/>
              </a:rPr>
              <a:t>结题汇报版  ·  2026 年 9 月 13 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965192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8C9EC3"/>
                </a:solidFill>
                <a:latin typeface="Microsoft YaHei"/>
              </a:rPr>
              <a:t>统计口径：生产数据 + 应用日志 + Git 提交 + 服务健康状态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3550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798BB3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平台已形成完整业务闭环，具备阶段性结题基础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当前重点已由“继续堆功能”转向“统一验收、结果闭环与长期运维”。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9631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64008" cy="14173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38528"/>
            <a:ext cx="21762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9572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在用项目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43200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全部完成全阶段 OCR 并形成分析结果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755648"/>
            <a:ext cx="249631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7" y="1755648"/>
            <a:ext cx="64008" cy="1417320"/>
          </a:xfrm>
          <a:prstGeom prst="rect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1938528"/>
            <a:ext cx="21762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39572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在用项目文件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743200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OCR / 提取完成率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755648"/>
            <a:ext cx="249631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7" y="1755648"/>
            <a:ext cx="64008" cy="1417320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38528"/>
            <a:ext cx="21762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9572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投标关系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43200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平均每项目 3.47 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755648"/>
            <a:ext cx="249631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1755648"/>
            <a:ext cx="64008" cy="1417320"/>
          </a:xfrm>
          <a:prstGeom prst="rect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1938528"/>
            <a:ext cx="21762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3/3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39572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核心服务在线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743200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前端、后端、vLLM 健康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529584"/>
            <a:ext cx="7068312" cy="2331720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785615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C2D7"/>
                </a:solidFill>
                <a:latin typeface="Microsoft YaHei"/>
              </a:rPr>
              <a:t>结题判断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206240"/>
            <a:ext cx="6217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“真实业务已跑通，核心能力已落地，
具备进入正式验收与归档阶段的条件。”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230368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3C1DD"/>
                </a:solidFill>
                <a:latin typeface="Microsoft YaHei"/>
              </a:rPr>
              <a:t>仍需完成：专项审查清单确认、待复核项关闭、版本固化、恢复演练与正式测试报告。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3529584"/>
            <a:ext cx="3538728" cy="233172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785615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三项核心价值</a:t>
            </a:r>
          </a:p>
        </p:txBody>
      </p:sp>
      <p:sp>
        <p:nvSpPr>
          <p:cNvPr id="32" name="Oval 31"/>
          <p:cNvSpPr/>
          <p:nvPr/>
        </p:nvSpPr>
        <p:spPr>
          <a:xfrm>
            <a:off x="8266175" y="4343400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4242816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A"/>
                </a:solidFill>
                <a:latin typeface="Microsoft YaHei"/>
              </a:rPr>
              <a:t>审查规则自动执行，降低机械核验工作量</a:t>
            </a:r>
          </a:p>
        </p:txBody>
      </p:sp>
      <p:sp>
        <p:nvSpPr>
          <p:cNvPr id="34" name="Oval 33"/>
          <p:cNvSpPr/>
          <p:nvPr/>
        </p:nvSpPr>
        <p:spPr>
          <a:xfrm>
            <a:off x="8266175" y="4800600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700016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A"/>
                </a:solidFill>
                <a:latin typeface="Microsoft YaHei"/>
              </a:rPr>
              <a:t>问题项可跳页定位，支撑人工证据复核</a:t>
            </a:r>
          </a:p>
        </p:txBody>
      </p:sp>
      <p:sp>
        <p:nvSpPr>
          <p:cNvPr id="36" name="Oval 35"/>
          <p:cNvSpPr/>
          <p:nvPr/>
        </p:nvSpPr>
        <p:spPr>
          <a:xfrm>
            <a:off x="8266175" y="5257800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5157216"/>
            <a:ext cx="2770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A"/>
                </a:solidFill>
                <a:latin typeface="Microsoft YaHei"/>
              </a:rPr>
              <a:t>结果可导出、可留痕，形成交付闭环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BUSINESS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一条完整链路，覆盖从材料进入到成果交付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分阶段状态、人工复核和证据定位共同保障长任务可控、结果可追溯。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1920240" cy="18653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6272"/>
            <a:ext cx="402336" cy="402336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258568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61488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33A"/>
                </a:solidFill>
                <a:latin typeface="Microsoft YaHei"/>
              </a:rPr>
              <a:t>项目与文件上传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4612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文件夹 / 手工成组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2926080"/>
            <a:ext cx="274320" cy="0"/>
          </a:xfrm>
          <a:prstGeom prst="line">
            <a:avLst/>
          </a:prstGeom>
          <a:ln w="279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2752344" y="2825496"/>
            <a:ext cx="182880" cy="210312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16936" y="1993392"/>
            <a:ext cx="1920240" cy="18653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81528" y="2176272"/>
            <a:ext cx="402336" cy="402336"/>
          </a:xfrm>
          <a:prstGeom prst="ellipse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258568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761488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33A"/>
                </a:solidFill>
                <a:latin typeface="Microsoft YaHei"/>
              </a:rPr>
              <a:t>分阶段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招标 → 商务 → 技术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2926080"/>
            <a:ext cx="274320" cy="0"/>
          </a:xfrm>
          <a:prstGeom prst="line">
            <a:avLst/>
          </a:prstGeom>
          <a:ln w="27940">
            <a:solidFill>
              <a:srgbClr val="00C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5010912" y="2825496"/>
            <a:ext cx="182880" cy="210312"/>
          </a:xfrm>
          <a:prstGeom prst="chevron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75504" y="1993392"/>
            <a:ext cx="1920240" cy="18653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40096" y="2176272"/>
            <a:ext cx="402336" cy="402336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0096" y="2258568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761488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33A"/>
                </a:solidFill>
                <a:latin typeface="Microsoft YaHei"/>
              </a:rPr>
              <a:t>多维智能审查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324612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完整性 / 报价 / 查重…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95744" y="2926080"/>
            <a:ext cx="274320" cy="0"/>
          </a:xfrm>
          <a:prstGeom prst="line">
            <a:avLst/>
          </a:prstGeom>
          <a:ln w="27940">
            <a:solidFill>
              <a:srgbClr val="7D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7269480" y="2825496"/>
            <a:ext cx="182880" cy="210312"/>
          </a:xfrm>
          <a:prstGeom prst="chevron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4072" y="1993392"/>
            <a:ext cx="1920240" cy="18653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98664" y="2176272"/>
            <a:ext cx="402336" cy="402336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2258568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2761488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33A"/>
                </a:solidFill>
                <a:latin typeface="Microsoft YaHei"/>
              </a:rPr>
              <a:t>结果审核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324612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原文定位 + 人工复核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54312" y="2926080"/>
            <a:ext cx="274320" cy="0"/>
          </a:xfrm>
          <a:prstGeom prst="line">
            <a:avLst/>
          </a:prstGeom>
          <a:ln w="2794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evron 32"/>
          <p:cNvSpPr/>
          <p:nvPr/>
        </p:nvSpPr>
        <p:spPr>
          <a:xfrm>
            <a:off x="9528048" y="2825496"/>
            <a:ext cx="182880" cy="210312"/>
          </a:xfrm>
          <a:prstGeom prst="chevron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92640" y="1993392"/>
            <a:ext cx="1920240" cy="18653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57232" y="2176272"/>
            <a:ext cx="402336" cy="402336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57232" y="2258568"/>
            <a:ext cx="4023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2761488"/>
            <a:ext cx="15727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33A"/>
                </a:solidFill>
                <a:latin typeface="Microsoft YaHei"/>
              </a:rPr>
              <a:t>报告交付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324612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Word / JSON / 归档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315968"/>
            <a:ext cx="10881360" cy="1261872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5628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0C2D7"/>
                </a:solidFill>
                <a:latin typeface="Microsoft YaHei"/>
              </a:rPr>
              <a:t>平台控制面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状态机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BEDC"/>
                </a:solidFill>
                <a:latin typeface="Microsoft YaHei"/>
              </a:rPr>
              <a:t>0 / 1 / 2 / 3 分阶段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证据链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44568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BEDC"/>
                </a:solidFill>
                <a:latin typeface="Microsoft YaHei"/>
              </a:rPr>
              <a:t>页码 / bbox / 高亮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7416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人工闭环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7416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BEDC"/>
                </a:solidFill>
                <a:latin typeface="Microsoft YaHei"/>
              </a:rPr>
              <a:t>草稿 / 确认 / 重算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0263" y="4498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工程保障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3" y="48646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AFBEDC"/>
                </a:solidFill>
                <a:latin typeface="Microsoft YaHei"/>
              </a:rPr>
              <a:t>缓存 / OSS / 失败恢复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DELIVERY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六个月持续建设：从数据底座到生产闭环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前后端双仓库持续迭代，近期优化直接来自真实项目反馈。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87552" y="3017520"/>
            <a:ext cx="10094976" cy="0"/>
          </a:xfrm>
          <a:prstGeom prst="line">
            <a:avLst/>
          </a:prstGeom>
          <a:ln w="3810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1560" y="2798064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258568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2F6BFF"/>
                </a:solidFill>
                <a:latin typeface="Microsoft YaHei"/>
              </a:rPr>
              <a:t>3月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34930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基础数据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" y="3886200"/>
            <a:ext cx="18836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项目、文档、关系与结果模型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2798064"/>
            <a:ext cx="438912" cy="438912"/>
          </a:xfrm>
          <a:prstGeom prst="ellipse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258568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00C2D7"/>
                </a:solidFill>
                <a:latin typeface="Microsoft YaHei"/>
              </a:rPr>
              <a:t>4—5月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4930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核心审查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886200"/>
            <a:ext cx="18836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OCR、完整性、报价、查重</a:t>
            </a:r>
          </a:p>
        </p:txBody>
      </p:sp>
      <p:sp>
        <p:nvSpPr>
          <p:cNvPr id="15" name="Oval 14"/>
          <p:cNvSpPr/>
          <p:nvPr/>
        </p:nvSpPr>
        <p:spPr>
          <a:xfrm>
            <a:off x="5532120" y="2798064"/>
            <a:ext cx="438912" cy="438912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258568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7D5FFF"/>
                </a:solidFill>
                <a:latin typeface="Microsoft YaHei"/>
              </a:rPr>
              <a:t>6月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4930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工程化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886200"/>
            <a:ext cx="18836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恢复、权限、OSS、批量上传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0" y="2798064"/>
            <a:ext cx="438912" cy="43891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258568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9F43"/>
                </a:solidFill>
                <a:latin typeface="Microsoft YaHei"/>
              </a:rPr>
              <a:t>8月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930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生产完善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886200"/>
            <a:ext cx="18836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vLLM、定位、复核、导出</a:t>
            </a:r>
          </a:p>
        </p:txBody>
      </p:sp>
      <p:sp>
        <p:nvSpPr>
          <p:cNvPr id="23" name="Oval 22"/>
          <p:cNvSpPr/>
          <p:nvPr/>
        </p:nvSpPr>
        <p:spPr>
          <a:xfrm>
            <a:off x="10012680" y="2798064"/>
            <a:ext cx="438912" cy="438912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258568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FBE89"/>
                </a:solidFill>
                <a:latin typeface="Microsoft YaHei"/>
              </a:rPr>
              <a:t>9月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493008"/>
            <a:ext cx="16276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准确性与性能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3886200"/>
            <a:ext cx="188366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附件匹配、报价、加载优化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047488"/>
            <a:ext cx="33832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047488"/>
            <a:ext cx="64008" cy="9875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23036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327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6875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后端累计提交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6035040"/>
            <a:ext cx="3063240" cy="-73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首次提交 2026-03-03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5047488"/>
            <a:ext cx="33832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047488"/>
            <a:ext cx="64008" cy="987552"/>
          </a:xfrm>
          <a:prstGeom prst="rect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523036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26864" y="56875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前端累计提交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6035040"/>
            <a:ext cx="3063240" cy="-73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首次提交 2026-03-09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5047488"/>
            <a:ext cx="338328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8" y="5047488"/>
            <a:ext cx="64008" cy="987552"/>
          </a:xfrm>
          <a:prstGeom prst="rect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523036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33A"/>
                </a:solidFill>
                <a:latin typeface="Microsoft YaHei"/>
              </a:rPr>
              <a:t>2026-09-08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56875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657189"/>
                </a:solidFill>
                <a:latin typeface="Microsoft YaHei"/>
              </a:rPr>
              <a:t>当前最新版本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6035040"/>
            <a:ext cx="3063240" cy="-73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前后端同日完成近期发布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PRODUCTION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生产数据证明：平台已不再只是开发验证环境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9C6E0"/>
                </a:solidFill>
                <a:latin typeface="Microsoft YaHei"/>
              </a:rPr>
              <a:t>截至 2026-09-13；在用项目均已完成技术标阶段 OCR。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9C6E0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28216"/>
            <a:ext cx="2487168" cy="1426464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28216"/>
            <a:ext cx="64008" cy="1426464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11095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68296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D3DCEE"/>
                </a:solidFill>
                <a:latin typeface="Microsoft YaHei"/>
              </a:rPr>
              <a:t>累计创建项目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15768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9AACC"/>
                </a:solidFill>
                <a:latin typeface="Microsoft YaHei"/>
              </a:rPr>
              <a:t>当前保留 15 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728216"/>
            <a:ext cx="2487168" cy="1426464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287" y="1728216"/>
            <a:ext cx="64008" cy="1426464"/>
          </a:xfrm>
          <a:prstGeom prst="rect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1911095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155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368296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D3DCEE"/>
                </a:solidFill>
                <a:latin typeface="Microsoft YaHei"/>
              </a:rPr>
              <a:t>当前文档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715768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9AACC"/>
                </a:solidFill>
                <a:latin typeface="Microsoft YaHei"/>
              </a:rPr>
              <a:t>约 5.20 GB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728216"/>
            <a:ext cx="2487168" cy="1426464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7" y="1728216"/>
            <a:ext cx="64008" cy="1426464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911095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4.45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68296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D3DCEE"/>
                </a:solidFill>
                <a:latin typeface="Microsoft YaHei"/>
              </a:rPr>
              <a:t>在用项目材料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15768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9AACC"/>
                </a:solidFill>
                <a:latin typeface="Microsoft YaHei"/>
              </a:rPr>
              <a:t>119 份，全部完成 OCR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728216"/>
            <a:ext cx="2487168" cy="1426464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5128" y="1728216"/>
            <a:ext cx="64008" cy="1426464"/>
          </a:xfrm>
          <a:prstGeom prst="rect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4584" y="1911095"/>
            <a:ext cx="2167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368296"/>
            <a:ext cx="2167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D3DCEE"/>
                </a:solidFill>
                <a:latin typeface="Microsoft YaHei"/>
              </a:rPr>
              <a:t>结果覆盖率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715768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99AACC"/>
                </a:solidFill>
                <a:latin typeface="Microsoft YaHei"/>
              </a:rPr>
              <a:t>15 / 15 在用项目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56432"/>
            <a:ext cx="5148072" cy="2331720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7033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文件构成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224528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2CDE5"/>
                </a:solidFill>
                <a:latin typeface="Microsoft YaHei"/>
              </a:rPr>
              <a:t>招标文件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3392" y="4242816"/>
            <a:ext cx="2423160" cy="164592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993392" y="4242816"/>
            <a:ext cx="1115422" cy="164592"/>
          </a:xfrm>
          <a:prstGeom prst="roundRect">
            <a:avLst>
              <a:gd name="adj" fmla="val 12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421538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71830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2CDE5"/>
                </a:solidFill>
                <a:latin typeface="Microsoft YaHei"/>
              </a:rPr>
              <a:t>商务标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93392" y="4736592"/>
            <a:ext cx="2423160" cy="164592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993392" y="4736592"/>
            <a:ext cx="2423160" cy="164592"/>
          </a:xfrm>
          <a:prstGeom prst="roundRect">
            <a:avLst>
              <a:gd name="adj" fmla="val 12000"/>
            </a:avLst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2" y="4709160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21208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2CDE5"/>
                </a:solidFill>
                <a:latin typeface="Microsoft YaHei"/>
              </a:rPr>
              <a:t>技术标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5230368"/>
            <a:ext cx="2423160" cy="164592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93392" y="5230368"/>
            <a:ext cx="2423160" cy="164592"/>
          </a:xfrm>
          <a:prstGeom prst="roundRect">
            <a:avLst>
              <a:gd name="adj" fmla="val 12000"/>
            </a:avLst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20293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63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9904" y="3456432"/>
            <a:ext cx="5449824" cy="2331720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37033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结果覆盖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178808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C2CDE5"/>
                </a:solidFill>
                <a:latin typeface="Microsoft YaHei"/>
              </a:rPr>
              <a:t>商务形式审查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7848" y="4206240"/>
            <a:ext cx="2212848" cy="128016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27848" y="4206240"/>
            <a:ext cx="2212848" cy="128016"/>
          </a:xfrm>
          <a:prstGeom prst="roundRect">
            <a:avLst>
              <a:gd name="adj" fmla="val 12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87000" y="4169664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15 / 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64224" y="4562856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C2CDE5"/>
                </a:solidFill>
                <a:latin typeface="Microsoft YaHei"/>
              </a:rPr>
              <a:t>人工复核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27848" y="4590288"/>
            <a:ext cx="2212848" cy="128016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927848" y="4590288"/>
            <a:ext cx="1918539" cy="128016"/>
          </a:xfrm>
          <a:prstGeom prst="roundRect">
            <a:avLst>
              <a:gd name="adj" fmla="val 12000"/>
            </a:avLst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455371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13 / 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494690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C2CDE5"/>
                </a:solidFill>
                <a:latin typeface="Microsoft YaHei"/>
              </a:rPr>
              <a:t>技术标查重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27848" y="4974336"/>
            <a:ext cx="2212848" cy="128016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27848" y="4974336"/>
            <a:ext cx="1918539" cy="128016"/>
          </a:xfrm>
          <a:prstGeom prst="roundRect">
            <a:avLst>
              <a:gd name="adj" fmla="val 12000"/>
            </a:avLst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87000" y="4937760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13 / 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53309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C2CDE5"/>
                </a:solidFill>
                <a:latin typeface="Microsoft YaHei"/>
              </a:rPr>
              <a:t>偏离 / 人员复用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27848" y="5358384"/>
            <a:ext cx="2212848" cy="128016"/>
          </a:xfrm>
          <a:prstGeom prst="roundRect">
            <a:avLst>
              <a:gd name="adj" fmla="val 12000"/>
            </a:avLst>
          </a:prstGeom>
          <a:solidFill>
            <a:srgbClr val="2A3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927848" y="5358384"/>
            <a:ext cx="1327708" cy="128016"/>
          </a:xfrm>
          <a:prstGeom prst="roundRect">
            <a:avLst>
              <a:gd name="adj" fmla="val 12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32180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9 / 15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说明：生产数据库采用只读聚合统计；未在 PPT 中披露账号、密码或密钥。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USAGE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日志显示平台已进入持续使用与复核阶段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2026-08-10 至 2026-09-13：共 11,079 次成功 API 响应，覆盖 21 个活跃日期。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06</a:t>
            </a:r>
          </a:p>
        </p:txBody>
      </p:sp>
      <p:pic>
        <p:nvPicPr>
          <p:cNvPr id="6" name="Picture 5" descr="usage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1673352"/>
            <a:ext cx="6291072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" y="1975104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19233A"/>
                </a:solidFill>
                <a:latin typeface="Microsoft YaHei"/>
              </a:rPr>
              <a:t>OCR 状态查询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1975104"/>
            <a:ext cx="685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57189"/>
                </a:solidFill>
                <a:latin typeface="Microsoft YaHei"/>
              </a:rPr>
              <a:t>4,783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38374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19233A"/>
                </a:solidFill>
                <a:latin typeface="Microsoft YaHei"/>
              </a:rPr>
              <a:t>PDF 原文预览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2538374"/>
            <a:ext cx="685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57189"/>
                </a:solidFill>
                <a:latin typeface="Microsoft YaHei"/>
              </a:rPr>
              <a:t>2,396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101644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19233A"/>
                </a:solidFill>
                <a:latin typeface="Microsoft YaHei"/>
              </a:rPr>
              <a:t>项目详情查询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3101644"/>
            <a:ext cx="685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57189"/>
                </a:solidFill>
                <a:latin typeface="Microsoft YaHei"/>
              </a:rPr>
              <a:t>2,026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664915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19233A"/>
                </a:solidFill>
                <a:latin typeface="Microsoft YaHei"/>
              </a:rPr>
              <a:t>结果查询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3664915"/>
            <a:ext cx="685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57189"/>
                </a:solidFill>
                <a:latin typeface="Microsoft YaHei"/>
              </a:rPr>
              <a:t>827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4228185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19233A"/>
                </a:solidFill>
                <a:latin typeface="Microsoft YaHei"/>
              </a:rPr>
              <a:t>项目分析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228185"/>
            <a:ext cx="685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57189"/>
                </a:solidFill>
                <a:latin typeface="Microsoft YaHei"/>
              </a:rPr>
              <a:t>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791456"/>
            <a:ext cx="12344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19233A"/>
                </a:solidFill>
                <a:latin typeface="Microsoft YaHei"/>
              </a:rPr>
              <a:t>报告导出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4791456"/>
            <a:ext cx="685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657189"/>
                </a:solidFill>
                <a:latin typeface="Microsoft YaHei"/>
              </a:rPr>
              <a:t>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4896" y="1673352"/>
            <a:ext cx="2084831" cy="3886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19385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使用特征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0" y="2587752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2487168"/>
            <a:ext cx="138988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9233A"/>
                </a:solidFill>
                <a:latin typeface="Microsoft YaHei"/>
              </a:rPr>
              <a:t>原文预览频繁：结论后仍核对证据</a:t>
            </a:r>
          </a:p>
        </p:txBody>
      </p:sp>
      <p:sp>
        <p:nvSpPr>
          <p:cNvPr id="23" name="Oval 22"/>
          <p:cNvSpPr/>
          <p:nvPr/>
        </p:nvSpPr>
        <p:spPr>
          <a:xfrm>
            <a:off x="9692640" y="3204972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3104388"/>
            <a:ext cx="138988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9233A"/>
                </a:solidFill>
                <a:latin typeface="Microsoft YaHei"/>
              </a:rPr>
              <a:t>分析与招标重审多次：存在规则回归</a:t>
            </a:r>
          </a:p>
        </p:txBody>
      </p:sp>
      <p:sp>
        <p:nvSpPr>
          <p:cNvPr id="25" name="Oval 24"/>
          <p:cNvSpPr/>
          <p:nvPr/>
        </p:nvSpPr>
        <p:spPr>
          <a:xfrm>
            <a:off x="9692640" y="3822192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8" y="3721608"/>
            <a:ext cx="138988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9233A"/>
                </a:solidFill>
                <a:latin typeface="Microsoft YaHei"/>
              </a:rPr>
              <a:t>报告已进入交付流程：累计生成 25 次</a:t>
            </a:r>
          </a:p>
        </p:txBody>
      </p:sp>
      <p:sp>
        <p:nvSpPr>
          <p:cNvPr id="27" name="Oval 26"/>
          <p:cNvSpPr/>
          <p:nvPr/>
        </p:nvSpPr>
        <p:spPr>
          <a:xfrm>
            <a:off x="9692640" y="4439412"/>
            <a:ext cx="100584" cy="1005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4338828"/>
            <a:ext cx="138988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9233A"/>
                </a:solidFill>
                <a:latin typeface="Microsoft YaHei"/>
              </a:rPr>
              <a:t>批量文件夹上传是主要项目入口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10928" y="5010912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5020056"/>
            <a:ext cx="8961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BE89"/>
                </a:solidFill>
                <a:latin typeface="Microsoft YaHei"/>
              </a:rPr>
              <a:t>持续使用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注：轮询、翻页和重复导出均会产生多次请求，接口次数不等于独立用户或独立项目数。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CORE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vLLM 架构成为近期最关键的性能跃迁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9C6E0"/>
                </a:solidFill>
                <a:latin typeface="Microsoft YaHei"/>
              </a:rPr>
              <a:t>将 PaddleOCR-VL 推理服务独立化，配合页面队列实现 CPU / GPU 流水重叠。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9C6E0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4800600" cy="4315968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56816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实测单页耗时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87752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6D1E8"/>
                </a:solidFill>
                <a:latin typeface="Microsoft YaHei"/>
              </a:rPr>
              <a:t>原生 Paddle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4288" y="2615184"/>
            <a:ext cx="2423160" cy="219456"/>
          </a:xfrm>
          <a:prstGeom prst="roundRect">
            <a:avLst>
              <a:gd name="adj" fmla="val 12000"/>
            </a:avLst>
          </a:prstGeom>
          <a:solidFill>
            <a:srgbClr val="2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04288" y="2615184"/>
            <a:ext cx="2423160" cy="219456"/>
          </a:xfrm>
          <a:prstGeom prst="roundRect">
            <a:avLst>
              <a:gd name="adj" fmla="val 12000"/>
            </a:avLst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8" y="294436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9DAECF"/>
                </a:solidFill>
                <a:latin typeface="Microsoft YaHei"/>
              </a:rPr>
              <a:t>约 3.3 秒/页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38144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6D1E8"/>
                </a:solidFill>
                <a:latin typeface="Microsoft YaHei"/>
              </a:rPr>
              <a:t>vLLM · 真实扫描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4288" y="3465576"/>
            <a:ext cx="2423160" cy="219456"/>
          </a:xfrm>
          <a:prstGeom prst="roundRect">
            <a:avLst>
              <a:gd name="adj" fmla="val 12000"/>
            </a:avLst>
          </a:prstGeom>
          <a:solidFill>
            <a:srgbClr val="2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04288" y="3465576"/>
            <a:ext cx="455260" cy="219456"/>
          </a:xfrm>
          <a:prstGeom prst="roundRect">
            <a:avLst>
              <a:gd name="adj" fmla="val 12000"/>
            </a:avLst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37947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9DAECF"/>
                </a:solidFill>
                <a:latin typeface="Microsoft YaHei"/>
              </a:rPr>
              <a:t>0.57—0.67 秒/页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88536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C6D1E8"/>
                </a:solidFill>
                <a:latin typeface="Microsoft YaHei"/>
              </a:rPr>
              <a:t>vLLM · 稳态合成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4315968"/>
            <a:ext cx="2423160" cy="219456"/>
          </a:xfrm>
          <a:prstGeom prst="roundRect">
            <a:avLst>
              <a:gd name="adj" fmla="val 12000"/>
            </a:avLst>
          </a:prstGeom>
          <a:solidFill>
            <a:srgbClr val="2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04288" y="4315968"/>
            <a:ext cx="183572" cy="219456"/>
          </a:xfrm>
          <a:prstGeom prst="roundRect">
            <a:avLst>
              <a:gd name="adj" fmla="val 12000"/>
            </a:avLst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46451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9DAECF"/>
                </a:solidFill>
                <a:latin typeface="Microsoft YaHei"/>
              </a:rPr>
              <a:t>0.22—0.28 秒/页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5285232"/>
            <a:ext cx="1051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0C2D7"/>
                </a:solidFill>
                <a:latin typeface="Microsoft YaHei"/>
              </a:rPr>
              <a:t>≈ 5×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534009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BECAE4"/>
                </a:solidFill>
                <a:latin typeface="Microsoft YaHei"/>
              </a:rPr>
              <a:t>真实扫描项目提速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1700784"/>
            <a:ext cx="5797296" cy="2039112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195681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架构变化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16752" y="2542032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1B2B4E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2670048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292608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ADBCDC"/>
                </a:solidFill>
                <a:latin typeface="Microsoft YaHei"/>
              </a:rPr>
              <a:t>任务编排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95744" y="2907792"/>
            <a:ext cx="201168" cy="0"/>
          </a:xfrm>
          <a:prstGeom prst="line">
            <a:avLst/>
          </a:prstGeom>
          <a:ln w="2159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24344" y="2542032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1B2B4E"/>
          </a:solidFill>
          <a:ln w="10160">
            <a:solidFill>
              <a:srgbClr val="7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24344" y="2670048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页面队列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292608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ADBCDC"/>
                </a:solidFill>
                <a:latin typeface="Microsoft YaHei"/>
              </a:rPr>
              <a:t>CPU / GPU 重叠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03336" y="2907792"/>
            <a:ext cx="201168" cy="0"/>
          </a:xfrm>
          <a:prstGeom prst="line">
            <a:avLst/>
          </a:prstGeom>
          <a:ln w="21590">
            <a:solidFill>
              <a:srgbClr val="7D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31936" y="2542032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1B2B4E"/>
          </a:solidFill>
          <a:ln w="10160">
            <a:solidFill>
              <a:srgbClr val="00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2670048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vLLM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292608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ADBCDC"/>
                </a:solidFill>
                <a:latin typeface="Microsoft YaHei"/>
              </a:rPr>
              <a:t>GPU 批量推理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10928" y="2907792"/>
            <a:ext cx="201168" cy="0"/>
          </a:xfrm>
          <a:prstGeom prst="line">
            <a:avLst/>
          </a:prstGeom>
          <a:ln w="21590">
            <a:solidFill>
              <a:srgbClr val="00C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939528" y="2542032"/>
            <a:ext cx="1078992" cy="713232"/>
          </a:xfrm>
          <a:prstGeom prst="roundRect">
            <a:avLst>
              <a:gd name="adj" fmla="val 12000"/>
            </a:avLst>
          </a:prstGeom>
          <a:solidFill>
            <a:srgbClr val="1B2B4E"/>
          </a:solidFill>
          <a:ln w="10160">
            <a:solidFill>
              <a:srgbClr val="1F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670048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OCR 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92608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ADBCDC"/>
                </a:solidFill>
                <a:latin typeface="Microsoft YaHei"/>
              </a:rPr>
              <a:t>结构化结果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42432" y="4005072"/>
            <a:ext cx="5797296" cy="2011680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425696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FBE89"/>
                </a:solidFill>
                <a:latin typeface="Microsoft YaHei"/>
              </a:rPr>
              <a:t>0.997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91947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C0CCE5"/>
                </a:solidFill>
                <a:latin typeface="Microsoft YaHei"/>
              </a:rPr>
              <a:t>OCR 文本一致性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0688" y="4425696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00C2D7"/>
                </a:solidFill>
                <a:latin typeface="Microsoft YaHei"/>
              </a:rPr>
              <a:t>+34%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90688" y="491947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C0CCE5"/>
                </a:solidFill>
                <a:latin typeface="Microsoft YaHei"/>
              </a:rPr>
              <a:t>队列流水增益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4425696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9F43"/>
                </a:solidFill>
                <a:latin typeface="Microsoft YaHei"/>
              </a:rPr>
              <a:t>12—15×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46336" y="491947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C0CCE5"/>
                </a:solidFill>
                <a:latin typeface="Microsoft YaHei"/>
              </a:rPr>
              <a:t>稳态合成提速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5468112"/>
            <a:ext cx="4919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91A3C7"/>
                </a:solidFill>
                <a:latin typeface="Microsoft YaHei"/>
              </a:rPr>
              <a:t>保留原生后端作为降级通道，vLLM 仅在 Docker 内网开放。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性能数据来自当前 L20 环境与样本实测，不作为所有文件、所有硬件环境下的统一 SLA。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RECENT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近期修改已覆盖准确性、稳定性、复核效率与成果交付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用户列出的九项内容齐全；同时补入分阶段恢复、OSS 外置、人工复核和人员识别优化。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3152" cy="19659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F6BFF"/>
                </a:solidFill>
                <a:latin typeface="Microsoft YaHei"/>
              </a:rPr>
              <a:t>识别准确性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96311"/>
            <a:ext cx="91440" cy="914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450591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附件标题括号兼容</a:t>
            </a:r>
          </a:p>
        </p:txBody>
      </p:sp>
      <p:sp>
        <p:nvSpPr>
          <p:cNvPr id="11" name="Oval 10"/>
          <p:cNvSpPr/>
          <p:nvPr/>
        </p:nvSpPr>
        <p:spPr>
          <a:xfrm>
            <a:off x="3374136" y="2496311"/>
            <a:ext cx="91440" cy="914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450591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招标报价规则检查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990087"/>
            <a:ext cx="91440" cy="914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44368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落款日期 / 分项报价</a:t>
            </a:r>
          </a:p>
        </p:txBody>
      </p:sp>
      <p:sp>
        <p:nvSpPr>
          <p:cNvPr id="15" name="Oval 14"/>
          <p:cNvSpPr/>
          <p:nvPr/>
        </p:nvSpPr>
        <p:spPr>
          <a:xfrm>
            <a:off x="3374136" y="2990087"/>
            <a:ext cx="91440" cy="9144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944368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人员姓名黑名单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719072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719072"/>
            <a:ext cx="73152" cy="1965960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938528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7D5FFF"/>
                </a:solidFill>
                <a:latin typeface="Microsoft YaHei"/>
              </a:rPr>
              <a:t>结果可信度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2496311"/>
            <a:ext cx="91440" cy="9144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450591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审查结论完整性反馈</a:t>
            </a:r>
          </a:p>
        </p:txBody>
      </p:sp>
      <p:sp>
        <p:nvSpPr>
          <p:cNvPr id="22" name="Oval 21"/>
          <p:cNvSpPr/>
          <p:nvPr/>
        </p:nvSpPr>
        <p:spPr>
          <a:xfrm>
            <a:off x="8897112" y="2496311"/>
            <a:ext cx="91440" cy="9144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2450591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PDF 证据定位</a:t>
            </a:r>
          </a:p>
        </p:txBody>
      </p:sp>
      <p:sp>
        <p:nvSpPr>
          <p:cNvPr id="24" name="Oval 23"/>
          <p:cNvSpPr/>
          <p:nvPr/>
        </p:nvSpPr>
        <p:spPr>
          <a:xfrm>
            <a:off x="6437376" y="2990087"/>
            <a:ext cx="91440" cy="9144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2944368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人工复核草稿 / 确认</a:t>
            </a:r>
          </a:p>
        </p:txBody>
      </p:sp>
      <p:sp>
        <p:nvSpPr>
          <p:cNvPr id="26" name="Oval 25"/>
          <p:cNvSpPr/>
          <p:nvPr/>
        </p:nvSpPr>
        <p:spPr>
          <a:xfrm>
            <a:off x="8897112" y="2990087"/>
            <a:ext cx="91440" cy="9144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2944368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招标文件独立审查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77639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977639"/>
            <a:ext cx="73152" cy="1965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19709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9F43"/>
                </a:solidFill>
                <a:latin typeface="Microsoft YaHei"/>
              </a:rPr>
              <a:t>项目稳定性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4754879"/>
            <a:ext cx="91440" cy="91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709159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重名文件夹返回 409</a:t>
            </a:r>
          </a:p>
        </p:txBody>
      </p:sp>
      <p:sp>
        <p:nvSpPr>
          <p:cNvPr id="33" name="Oval 32"/>
          <p:cNvSpPr/>
          <p:nvPr/>
        </p:nvSpPr>
        <p:spPr>
          <a:xfrm>
            <a:off x="3374136" y="4754879"/>
            <a:ext cx="91440" cy="91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8728" y="4709159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项目级投标人隔离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5248655"/>
            <a:ext cx="91440" cy="91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5202936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项目摘要与按需加载</a:t>
            </a:r>
          </a:p>
        </p:txBody>
      </p:sp>
      <p:sp>
        <p:nvSpPr>
          <p:cNvPr id="37" name="Oval 36"/>
          <p:cNvSpPr/>
          <p:nvPr/>
        </p:nvSpPr>
        <p:spPr>
          <a:xfrm>
            <a:off x="3374136" y="5248655"/>
            <a:ext cx="91440" cy="91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8" y="5202936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OCR 中断续跑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3977639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1344" y="3977639"/>
            <a:ext cx="73152" cy="1965960"/>
          </a:xfrm>
          <a:prstGeom prst="rect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419709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BE89"/>
                </a:solidFill>
                <a:latin typeface="Microsoft YaHei"/>
              </a:rPr>
              <a:t>成果交付</a:t>
            </a:r>
          </a:p>
        </p:txBody>
      </p:sp>
      <p:sp>
        <p:nvSpPr>
          <p:cNvPr id="42" name="Oval 41"/>
          <p:cNvSpPr/>
          <p:nvPr/>
        </p:nvSpPr>
        <p:spPr>
          <a:xfrm>
            <a:off x="6437376" y="4754879"/>
            <a:ext cx="91440" cy="91440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4709159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项目审查报告表头</a:t>
            </a:r>
          </a:p>
        </p:txBody>
      </p:sp>
      <p:sp>
        <p:nvSpPr>
          <p:cNvPr id="44" name="Oval 43"/>
          <p:cNvSpPr/>
          <p:nvPr/>
        </p:nvSpPr>
        <p:spPr>
          <a:xfrm>
            <a:off x="8897112" y="4754879"/>
            <a:ext cx="91440" cy="91440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1704" y="4709159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分投标商文件属性</a:t>
            </a:r>
          </a:p>
        </p:txBody>
      </p:sp>
      <p:sp>
        <p:nvSpPr>
          <p:cNvPr id="46" name="Oval 45"/>
          <p:cNvSpPr/>
          <p:nvPr/>
        </p:nvSpPr>
        <p:spPr>
          <a:xfrm>
            <a:off x="6437376" y="5248655"/>
            <a:ext cx="91440" cy="91440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5202936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横向表格与固定列宽</a:t>
            </a:r>
          </a:p>
        </p:txBody>
      </p:sp>
      <p:sp>
        <p:nvSpPr>
          <p:cNvPr id="48" name="Oval 47"/>
          <p:cNvSpPr/>
          <p:nvPr/>
        </p:nvSpPr>
        <p:spPr>
          <a:xfrm>
            <a:off x="8897112" y="5248655"/>
            <a:ext cx="91440" cy="91440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61704" y="5202936"/>
            <a:ext cx="21762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19" b="1">
                <a:solidFill>
                  <a:srgbClr val="19233A"/>
                </a:solidFill>
                <a:latin typeface="Microsoft YaHei"/>
              </a:rPr>
              <a:t>大结果 JSON 外置 OSS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ACCURACY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真实项目问题已沉淀为可回归的识别规则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重点不是“多报问题”，而是提升标题匹配、报价判断与结论表达的可解释性。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09928"/>
            <a:ext cx="4754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6733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附件标题括号兼容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6" y="1673352"/>
            <a:ext cx="3108960" cy="786384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78308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原问题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755648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中小企业声明函（格式）
≠ 中小企业声明函（工程）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2066544"/>
            <a:ext cx="438912" cy="0"/>
          </a:xfrm>
          <a:prstGeom prst="line">
            <a:avLst/>
          </a:prstGeom>
          <a:ln w="3048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6949440" y="1956816"/>
            <a:ext cx="210312" cy="228600"/>
          </a:xfrm>
          <a:prstGeom prst="chevron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42048" y="167335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8308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BFF"/>
                </a:solidFill>
                <a:latin typeface="Microsoft YaHei"/>
              </a:rPr>
              <a:t>当前处理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55648"/>
            <a:ext cx="3090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9233A"/>
                </a:solidFill>
                <a:latin typeface="Microsoft YaHei"/>
              </a:rPr>
              <a:t>统一全角 / 半角 / 嵌套括号；忽略标题引导词；支持合并标题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43784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52927"/>
            <a:ext cx="4754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8163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招标文件报价规则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8416" y="2816352"/>
            <a:ext cx="3108960" cy="786384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292608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原问题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898648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报价要求散落于限价、下浮率、评分表与附件模板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3209544"/>
            <a:ext cx="438912" cy="0"/>
          </a:xfrm>
          <a:prstGeom prst="line">
            <a:avLst/>
          </a:prstGeom>
          <a:ln w="30480">
            <a:solidFill>
              <a:srgbClr val="00C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6949440" y="3099816"/>
            <a:ext cx="210312" cy="228600"/>
          </a:xfrm>
          <a:prstGeom prst="chevron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42048" y="281635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0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92608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0C2D7"/>
                </a:solidFill>
                <a:latin typeface="Microsoft YaHei"/>
              </a:rPr>
              <a:t>当前处理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98648"/>
            <a:ext cx="3090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9233A"/>
                </a:solidFill>
                <a:latin typeface="Microsoft YaHei"/>
              </a:rPr>
              <a:t>补齐最高限价同义词、下浮率规则、固定满分及“最高 X 分”识别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86784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F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995928"/>
            <a:ext cx="4754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7D5FFF"/>
                </a:solidFill>
                <a:latin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593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结论完整性反馈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28416" y="3959352"/>
            <a:ext cx="3108960" cy="786384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406908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原问题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041648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只有 missing / pass，缺少原因与证据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29400" y="4352544"/>
            <a:ext cx="438912" cy="0"/>
          </a:xfrm>
          <a:prstGeom prst="line">
            <a:avLst/>
          </a:prstGeom>
          <a:ln w="30480">
            <a:solidFill>
              <a:srgbClr val="7D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evron 34"/>
          <p:cNvSpPr/>
          <p:nvPr/>
        </p:nvSpPr>
        <p:spPr>
          <a:xfrm>
            <a:off x="6949440" y="4242816"/>
            <a:ext cx="210312" cy="228600"/>
          </a:xfrm>
          <a:prstGeom prst="chevron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42048" y="395935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7D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406908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7D5FFF"/>
                </a:solidFill>
                <a:latin typeface="Microsoft YaHei"/>
              </a:rPr>
              <a:t>当前处理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041648"/>
            <a:ext cx="3090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9233A"/>
                </a:solidFill>
                <a:latin typeface="Microsoft YaHei"/>
              </a:rPr>
              <a:t>统一输出状态、问题描述、系统结论、投标人、页码与证据定位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29784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138928"/>
            <a:ext cx="4754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BE89"/>
                </a:solidFill>
                <a:latin typeface="Microsoft YaHe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10235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9233A"/>
                </a:solidFill>
                <a:latin typeface="Microsoft YaHei"/>
              </a:rPr>
              <a:t>落款与分项报价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28416" y="5102352"/>
            <a:ext cx="3108960" cy="786384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9584" y="521208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原问题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5184648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扫描件日期、跨表合计及自述偏差容易误判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29400" y="5495544"/>
            <a:ext cx="438912" cy="0"/>
          </a:xfrm>
          <a:prstGeom prst="line">
            <a:avLst/>
          </a:prstGeom>
          <a:ln w="30480">
            <a:solidFill>
              <a:srgbClr val="1FBE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hevron 45"/>
          <p:cNvSpPr/>
          <p:nvPr/>
        </p:nvSpPr>
        <p:spPr>
          <a:xfrm>
            <a:off x="6949440" y="5385816"/>
            <a:ext cx="210312" cy="228600"/>
          </a:xfrm>
          <a:prstGeom prst="chevron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42048" y="5102352"/>
            <a:ext cx="4297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F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521208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FBE89"/>
                </a:solidFill>
                <a:latin typeface="Microsoft YaHei"/>
              </a:rPr>
              <a:t>当前处理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184648"/>
            <a:ext cx="3090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19233A"/>
                </a:solidFill>
                <a:latin typeface="Microsoft YaHei"/>
              </a:rPr>
              <a:t>增强落款日期锚点、表格重建与行 / 列 / 表三级算术校验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STABILITY &amp;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从“文件串项目”到项目级隔离与可控加载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9C6E0"/>
                </a:solidFill>
                <a:latin typeface="Microsoft YaHei"/>
              </a:rPr>
              <a:t>上传端阻断重名复用，分析端按项目关系取数，展示端按摘要和需要加载。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9C6E0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46704" cy="4041648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上传入口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975104"/>
            <a:ext cx="484632" cy="310896"/>
          </a:xfrm>
          <a:prstGeom prst="roundRect">
            <a:avLst>
              <a:gd name="adj" fmla="val 12000"/>
            </a:avLst>
          </a:prstGeom>
          <a:solidFill>
            <a:srgbClr val="1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984248"/>
            <a:ext cx="4846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9F43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此前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24328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ECAE4"/>
                </a:solidFill>
                <a:latin typeface="Microsoft YaHei"/>
              </a:rPr>
              <a:t>发现同名项目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3355848"/>
            <a:ext cx="2724911" cy="0"/>
          </a:xfrm>
          <a:prstGeom prst="line">
            <a:avLst/>
          </a:prstGeom>
          <a:ln w="12700">
            <a:solidFill>
              <a:srgbClr val="2A3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621024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9F43"/>
                </a:solidFill>
                <a:latin typeface="Microsoft YaHei"/>
              </a:rPr>
              <a:t>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29584"/>
            <a:ext cx="21396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返回 409
提示修改文件夹名称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2788920" cy="658368"/>
          </a:xfrm>
          <a:prstGeom prst="roundRect">
            <a:avLst>
              <a:gd name="adj" fmla="val 12000"/>
            </a:avLst>
          </a:prstGeom>
          <a:solidFill>
            <a:srgbClr val="19294C"/>
          </a:solidFill>
          <a:ln w="101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4828032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9F43"/>
                </a:solidFill>
                <a:latin typeface="Microsoft YaHei"/>
              </a:rPr>
              <a:t>不追加 · 不覆盖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5" y="1755648"/>
            <a:ext cx="3346704" cy="4041648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01168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分析取数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2007" y="1975104"/>
            <a:ext cx="484632" cy="310896"/>
          </a:xfrm>
          <a:prstGeom prst="roundRect">
            <a:avLst>
              <a:gd name="adj" fmla="val 12000"/>
            </a:avLst>
          </a:prstGeom>
          <a:solidFill>
            <a:srgbClr val="1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7" y="1984248"/>
            <a:ext cx="4846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651760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此前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7" y="2624328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ECAE4"/>
                </a:solidFill>
                <a:latin typeface="Microsoft YaHei"/>
              </a:rPr>
              <a:t>全局历史材料可能干扰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26864" y="3355848"/>
            <a:ext cx="2724911" cy="0"/>
          </a:xfrm>
          <a:prstGeom prst="line">
            <a:avLst/>
          </a:prstGeom>
          <a:ln w="12700">
            <a:solidFill>
              <a:srgbClr val="2A3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0288" y="3621024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00C2D7"/>
                </a:solidFill>
                <a:latin typeface="Microsoft YaHei"/>
              </a:rPr>
              <a:t>现在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7" y="3529584"/>
            <a:ext cx="21396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只读取当前项目
文档关系集合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4663440"/>
            <a:ext cx="2788920" cy="658368"/>
          </a:xfrm>
          <a:prstGeom prst="roundRect">
            <a:avLst>
              <a:gd name="adj" fmla="val 12000"/>
            </a:avLst>
          </a:prstGeom>
          <a:solidFill>
            <a:srgbClr val="19294C"/>
          </a:solidFill>
          <a:ln w="10160">
            <a:solidFill>
              <a:srgbClr val="00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3" y="4828032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0C2D7"/>
                </a:solidFill>
                <a:latin typeface="Microsoft YaHei"/>
              </a:rPr>
              <a:t>投标人不再串项目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1755648"/>
            <a:ext cx="3346704" cy="4041648"/>
          </a:xfrm>
          <a:prstGeom prst="roundRect">
            <a:avLst>
              <a:gd name="adj" fmla="val 12000"/>
            </a:avLst>
          </a:prstGeom>
          <a:solidFill>
            <a:srgbClr val="101E3F"/>
          </a:solidFill>
          <a:ln w="10160">
            <a:solidFill>
              <a:srgbClr val="2A3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201168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结果展示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97896" y="1975104"/>
            <a:ext cx="484632" cy="310896"/>
          </a:xfrm>
          <a:prstGeom prst="roundRect">
            <a:avLst>
              <a:gd name="adj" fmla="val 12000"/>
            </a:avLst>
          </a:prstGeom>
          <a:solidFill>
            <a:srgbClr val="1F2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97896" y="1984248"/>
            <a:ext cx="4846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BE89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5" y="2651760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25C65"/>
                </a:solidFill>
                <a:latin typeface="Microsoft YaHei"/>
              </a:rPr>
              <a:t>此前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2624328"/>
            <a:ext cx="213969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ECAE4"/>
                </a:solidFill>
                <a:latin typeface="Microsoft YaHei"/>
              </a:rPr>
              <a:t>一次加载大结果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02752" y="3355848"/>
            <a:ext cx="2724911" cy="0"/>
          </a:xfrm>
          <a:prstGeom prst="line">
            <a:avLst/>
          </a:prstGeom>
          <a:ln w="12700">
            <a:solidFill>
              <a:srgbClr val="2A3B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66175" y="3621024"/>
            <a:ext cx="493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FBE89"/>
                </a:solidFill>
                <a:latin typeface="Microsoft YaHei"/>
              </a:rPr>
              <a:t>现在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536" y="3529584"/>
            <a:ext cx="213969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项目摘要 + 懒加载
请求去重与过期取消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66175" y="4663440"/>
            <a:ext cx="2788920" cy="658368"/>
          </a:xfrm>
          <a:prstGeom prst="roundRect">
            <a:avLst>
              <a:gd name="adj" fmla="val 12000"/>
            </a:avLst>
          </a:prstGeom>
          <a:solidFill>
            <a:srgbClr val="19294C"/>
          </a:solidFill>
          <a:ln w="10160">
            <a:solidFill>
              <a:srgbClr val="1F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828032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FBE89"/>
                </a:solidFill>
                <a:latin typeface="Microsoft YaHei"/>
              </a:rPr>
              <a:t>降低等待与串响应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080760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9DAECF"/>
                </a:solidFill>
                <a:latin typeface="Microsoft YaHei"/>
              </a:rPr>
              <a:t>辅助保障：分阶段 OCR 可续跑 · 大 JSON 外置 OSS · 两层缓存 · 失败回退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REVIEW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结果审核：结论、投标人、页码与原文证据同屏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点击问题项即可跳转对应 PDF 页面；人工复核可保存草稿、重算并确认。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9344"/>
            <a:ext cx="7635240" cy="4507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_review_evidence_72_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6776"/>
            <a:ext cx="7580375" cy="44531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" y="5678423"/>
            <a:ext cx="2020824" cy="292608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5714999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结果审核 · 双 PDF 证据对照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8784" y="1609344"/>
            <a:ext cx="2980944" cy="4507992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1920240"/>
            <a:ext cx="1417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9233A"/>
                </a:solidFill>
                <a:latin typeface="Microsoft YaHei"/>
              </a:rPr>
              <a:t>复核闭环</a:t>
            </a:r>
          </a:p>
        </p:txBody>
      </p:sp>
      <p:sp>
        <p:nvSpPr>
          <p:cNvPr id="12" name="Oval 11"/>
          <p:cNvSpPr/>
          <p:nvPr/>
        </p:nvSpPr>
        <p:spPr>
          <a:xfrm>
            <a:off x="8851392" y="2596896"/>
            <a:ext cx="329184" cy="329184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2688336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9448" y="258775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9233A"/>
                </a:solidFill>
                <a:latin typeface="Microsoft YaHei"/>
              </a:rPr>
              <a:t>筛选问题项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448" y="2880360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57189"/>
                </a:solidFill>
                <a:latin typeface="Microsoft YaHei"/>
              </a:rPr>
              <a:t>按项目、文件和审查项定位</a:t>
            </a:r>
          </a:p>
        </p:txBody>
      </p:sp>
      <p:sp>
        <p:nvSpPr>
          <p:cNvPr id="16" name="Oval 15"/>
          <p:cNvSpPr/>
          <p:nvPr/>
        </p:nvSpPr>
        <p:spPr>
          <a:xfrm>
            <a:off x="8851392" y="3346703"/>
            <a:ext cx="329184" cy="329184"/>
          </a:xfrm>
          <a:prstGeom prst="ellipse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3438144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3337560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9233A"/>
                </a:solidFill>
                <a:latin typeface="Microsoft YaHei"/>
              </a:rPr>
              <a:t>核对原文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3630168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57189"/>
                </a:solidFill>
                <a:latin typeface="Microsoft YaHei"/>
              </a:rPr>
              <a:t>自动跳页并高亮证据</a:t>
            </a:r>
          </a:p>
        </p:txBody>
      </p:sp>
      <p:sp>
        <p:nvSpPr>
          <p:cNvPr id="20" name="Oval 19"/>
          <p:cNvSpPr/>
          <p:nvPr/>
        </p:nvSpPr>
        <p:spPr>
          <a:xfrm>
            <a:off x="8851392" y="4096511"/>
            <a:ext cx="329184" cy="329184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187951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408736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9233A"/>
                </a:solidFill>
                <a:latin typeface="Microsoft YaHei"/>
              </a:rPr>
              <a:t>人工判断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4379975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57189"/>
                </a:solidFill>
                <a:latin typeface="Microsoft YaHei"/>
              </a:rPr>
              <a:t>保留 / 修正 / 补充说明</a:t>
            </a:r>
          </a:p>
        </p:txBody>
      </p:sp>
      <p:sp>
        <p:nvSpPr>
          <p:cNvPr id="24" name="Oval 23"/>
          <p:cNvSpPr/>
          <p:nvPr/>
        </p:nvSpPr>
        <p:spPr>
          <a:xfrm>
            <a:off x="8851392" y="4846320"/>
            <a:ext cx="329184" cy="329184"/>
          </a:xfrm>
          <a:prstGeom prst="ellipse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4937759"/>
            <a:ext cx="32918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483717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9233A"/>
                </a:solidFill>
                <a:latin typeface="Microsoft YaHei"/>
              </a:rPr>
              <a:t>形成成果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5129783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657189"/>
                </a:solidFill>
                <a:latin typeface="Microsoft YaHei"/>
              </a:rPr>
              <a:t>确认结果并导出报告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页面截图来自当前运行中的 XTJS 平台；汇报文件不包含认证令牌或密码。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REPORT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导出报告已从“结果堆叠”升级为结构化项目成果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标题、基本信息、投标人名单与源文件属性紧邻呈现；说明文字保留关键信息。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662940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61447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0A1530"/>
                </a:solidFill>
                <a:latin typeface="Microsoft YaHei"/>
              </a:rPr>
              <a:t>项目审查报告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23744"/>
            <a:ext cx="6016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657189"/>
                </a:solidFill>
                <a:latin typeface="Microsoft YaHei"/>
              </a:rPr>
              <a:t>项目名称：真实场景语音数据采购     采购人：上海库帕思科技有限公司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99232"/>
            <a:ext cx="6035040" cy="420624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108960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9233A"/>
                </a:solidFill>
                <a:latin typeface="Microsoft YaHei"/>
              </a:rPr>
              <a:t>文件类型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8" y="3108960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9233A"/>
                </a:solidFill>
                <a:latin typeface="Microsoft YaHei"/>
              </a:rPr>
              <a:t>文件名称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3108960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9233A"/>
                </a:solidFill>
                <a:latin typeface="Microsoft YaHei"/>
              </a:rPr>
              <a:t>标题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3108960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9233A"/>
                </a:solidFill>
                <a:latin typeface="Microsoft YaHei"/>
              </a:rPr>
              <a:t>作者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108960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9233A"/>
                </a:solidFill>
                <a:latin typeface="Microsoft YaHei"/>
              </a:rPr>
              <a:t>创建程序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108960"/>
            <a:ext cx="6949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80" b="1">
                <a:solidFill>
                  <a:srgbClr val="19233A"/>
                </a:solidFill>
                <a:latin typeface="Microsoft YaHei"/>
              </a:rPr>
              <a:t>制作工具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419856"/>
            <a:ext cx="60350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892808" y="3419856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520440"/>
            <a:ext cx="841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9233A"/>
                </a:solidFill>
                <a:latin typeface="Microsoft YaHei"/>
              </a:rPr>
              <a:t>招标文件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95928" y="3419856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20240" y="3520440"/>
            <a:ext cx="202996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9233A"/>
                </a:solidFill>
                <a:latin typeface="Microsoft YaHei"/>
              </a:rPr>
              <a:t>XTJS2026-241…定稿.pdf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01768" y="3419856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0" y="3520440"/>
            <a:ext cx="932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9233A"/>
                </a:solidFill>
                <a:latin typeface="Microsoft YaHei"/>
              </a:rPr>
              <a:t>代理机构资质…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15000" y="3419856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0" y="352044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9233A"/>
                </a:solidFill>
                <a:latin typeface="Microsoft YaHei"/>
              </a:rPr>
              <a:t>Gary Guo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28232" y="3419856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42432" y="352044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9233A"/>
                </a:solidFill>
                <a:latin typeface="Microsoft YaHei"/>
              </a:rPr>
              <a:t>WPS 文字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41464" y="3419856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55664" y="3520440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19233A"/>
                </a:solidFill>
                <a:latin typeface="Microsoft YaHe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023360"/>
            <a:ext cx="60350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892808" y="4023360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5840" y="4123944"/>
            <a:ext cx="841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商务标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95928" y="4023360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920240" y="4123944"/>
            <a:ext cx="202996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上海晏鼠…商务响应文件.pdf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01768" y="4023360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23360" y="4123944"/>
            <a:ext cx="932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—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15000" y="4023360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0" y="412394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—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28232" y="4023360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742432" y="412394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DocuCentre-V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41464" y="4023360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55664" y="4123944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C7785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" y="4626864"/>
            <a:ext cx="60350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892808" y="4626864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5840" y="4727448"/>
            <a:ext cx="841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技术标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995928" y="4626864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920240" y="4727448"/>
            <a:ext cx="202996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云知声…技术响应文件.pdf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01768" y="4626864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023360" y="4727448"/>
            <a:ext cx="9326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—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15000" y="4626864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0" y="4727448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—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28232" y="4626864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742432" y="4727448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Apeos C3061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41464" y="4626864"/>
            <a:ext cx="0" cy="603504"/>
          </a:xfrm>
          <a:prstGeom prst="line">
            <a:avLst/>
          </a:prstGeom>
          <a:ln w="635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55664" y="4727448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20" b="0">
                <a:solidFill>
                  <a:srgbClr val="657189"/>
                </a:solidFill>
                <a:latin typeface="Microsoft YaHei"/>
              </a:rPr>
              <a:t>Apeos C3061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449824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F6BFF"/>
                </a:solidFill>
                <a:latin typeface="Microsoft YaHei"/>
              </a:rPr>
              <a:t>源文件属性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544982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657189"/>
                </a:solidFill>
                <a:latin typeface="Microsoft YaHei"/>
              </a:rPr>
              <a:t>标题 / 作者 / 主题 / 关键字 / 创建程序 / 制作工具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71231" y="1673352"/>
            <a:ext cx="3968496" cy="4389120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91272" y="197510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本轮交付改进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91272" y="259689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0C2D7"/>
                </a:solidFill>
                <a:latin typeface="Microsoft YaHei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569464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标题规范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2569464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B8C6E1"/>
                </a:solidFill>
                <a:latin typeface="Microsoft YaHei"/>
              </a:rPr>
              <a:t>“单位关联情况表”统一为“项目审查报告”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291839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2F6BFF"/>
                </a:solidFill>
                <a:latin typeface="Microsoft YaHei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48472" y="3264408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冗余精简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264408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B8C6E1"/>
                </a:solidFill>
                <a:latin typeface="Microsoft YaHei"/>
              </a:rPr>
              <a:t>删除“查询单位名单”等无效说明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3986783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7D5FFF"/>
                </a:solidFill>
                <a:latin typeface="Microsoft YaHei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2" y="3959351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文件属性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3959351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B8C6E1"/>
                </a:solidFill>
                <a:latin typeface="Microsoft YaHei"/>
              </a:rPr>
              <a:t>按招标 / 商务 / 技术标逐文件展示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2" y="46817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1FBE89"/>
                </a:solidFill>
                <a:latin typeface="Microsoft YaHei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48472" y="4654296"/>
            <a:ext cx="10241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版式优化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4654296"/>
            <a:ext cx="1783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B8C6E1"/>
                </a:solidFill>
                <a:latin typeface="Microsoft YaHei"/>
              </a:rPr>
              <a:t>横向页面、固定列宽，减少细长分页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5513832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0">
                <a:solidFill>
                  <a:srgbClr val="9AADD0"/>
                </a:solidFill>
                <a:latin typeface="Microsoft YaHei"/>
              </a:rPr>
              <a:t>空白字段表示源 PDF 元数据未写入，系统不臆造作者。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PLATFORM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当前平台界面：项目、招标审查、分析与结果复核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B9C6E0"/>
                </a:solidFill>
                <a:latin typeface="Microsoft YaHei"/>
              </a:rPr>
              <a:t>截图取自当前运行环境，展示系统已具备的主业务入口。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9C6E0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193792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_projects_72_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3352"/>
            <a:ext cx="5138928" cy="19751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" y="3236976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3273552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项目管理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5" y="1645920"/>
            <a:ext cx="5193792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_tender_673_1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673352"/>
            <a:ext cx="5138928" cy="197510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91071" y="3236976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3273552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招标文件审查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50208"/>
            <a:ext cx="5193792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rop_analysis_72_4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5138928" cy="19751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86384" y="5541264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57784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分析中心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3950208"/>
            <a:ext cx="5193792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rop_review_673_4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977640"/>
            <a:ext cx="5138928" cy="197510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91071" y="5541264"/>
            <a:ext cx="1097280" cy="292608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5577840"/>
            <a:ext cx="9875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FFFFFF"/>
                </a:solidFill>
                <a:latin typeface="Microsoft YaHei"/>
              </a:rPr>
              <a:t>结果审核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为保证汇报可读性，截图已按 16:9 页面裁切；平台数据内容仅用于内部项目汇报。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技术栈已形成清晰分层，支持独立演进与故障隔离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前端、业务服务、AI 推理、数据存储与基础设施边界明确。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64208"/>
            <a:ext cx="1298448" cy="6583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65376"/>
            <a:ext cx="12984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交互层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1992" y="1801368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9233A"/>
                </a:solidFill>
                <a:latin typeface="Microsoft YaHei"/>
              </a:rPr>
              <a:t>React 18 · Vite · HashRouter ·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819656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57189"/>
                </a:solidFill>
                <a:latin typeface="Microsoft YaHei"/>
              </a:rPr>
              <a:t>项目管理 / 审查 / 分析 / 复核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05456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505456"/>
            <a:ext cx="1298448" cy="658368"/>
          </a:xfrm>
          <a:prstGeom prst="rect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06624"/>
            <a:ext cx="12984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业务层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2" y="2642616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9233A"/>
                </a:solidFill>
                <a:latin typeface="Microsoft YaHei"/>
              </a:rPr>
              <a:t>FastAPI · Uvicorn · 统一响应 · 依赖注入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660904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57189"/>
                </a:solidFill>
                <a:latin typeface="Microsoft YaHei"/>
              </a:rPr>
              <a:t>项目编排 / 八类分析 / 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46704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346704"/>
            <a:ext cx="1298448" cy="6583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47872"/>
            <a:ext cx="12984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AI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2" y="3483864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9233A"/>
                </a:solidFill>
                <a:latin typeface="Microsoft YaHei"/>
              </a:rPr>
              <a:t>PaddleOCR-VL · vLLM · BGE · 规则算法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02152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57189"/>
                </a:solidFill>
                <a:latin typeface="Microsoft YaHei"/>
              </a:rPr>
              <a:t>OCR / 表格 / 语义 / 印章签名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87952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187952"/>
            <a:ext cx="1298448" cy="658368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89120"/>
            <a:ext cx="12984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1992" y="4325112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9233A"/>
                </a:solidFill>
                <a:latin typeface="Microsoft YaHei"/>
              </a:rPr>
              <a:t>PostgreSQL · JSONB · Redis / Tair · 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43400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57189"/>
                </a:solidFill>
                <a:latin typeface="Microsoft YaHei"/>
              </a:rPr>
              <a:t>关系数据 / 缓存 / 大对象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29200"/>
            <a:ext cx="108813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029200"/>
            <a:ext cx="1298448" cy="658368"/>
          </a:xfrm>
          <a:prstGeom prst="rect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30368"/>
            <a:ext cx="12984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运行层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2" y="5166360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9233A"/>
                </a:solidFill>
                <a:latin typeface="Microsoft YaHei"/>
              </a:rPr>
              <a:t>Docker Compose · Nginx · NVIDIA GPU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184648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57189"/>
                </a:solidFill>
                <a:latin typeface="Microsoft YaHei"/>
              </a:rPr>
              <a:t>隔离部署 / 代理 / 监控健康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984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657189"/>
                </a:solidFill>
                <a:latin typeface="Microsoft YaHei"/>
              </a:rPr>
              <a:t>核心工程策略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01952" y="5925312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1952" y="5934456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分阶段状态机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5925312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5934456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失败恢复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7488" y="5925312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7488" y="5934456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7D5FFF"/>
                </a:solidFill>
                <a:latin typeface="Microsoft YaHei"/>
              </a:rPr>
              <a:t>项目级隔离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0256" y="5925312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0256" y="5934456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9F43"/>
                </a:solidFill>
                <a:latin typeface="Microsoft YaHei"/>
              </a:rPr>
              <a:t>证据可追溯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4" y="5925312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5934456"/>
            <a:ext cx="135331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BE89"/>
                </a:solidFill>
                <a:latin typeface="Microsoft YaHei"/>
              </a:rPr>
              <a:t>人工可复核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CLOSURE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9233A"/>
                </a:solidFill>
                <a:latin typeface="Microsoft YaHei"/>
              </a:rPr>
              <a:t>结题建议：四周完成“验收—固化—演练—移交”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612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657189"/>
                </a:solidFill>
                <a:latin typeface="Microsoft YaHei"/>
              </a:rPr>
              <a:t>所有动作均围绕可验收、可追溯和可恢复，而非新增大范围功能。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20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657189"/>
                </a:solidFill>
                <a:latin typeface="Microsoft Ya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2468880" cy="2788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92224"/>
            <a:ext cx="2468880" cy="4572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第 1 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0482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33A"/>
                </a:solidFill>
                <a:latin typeface="Microsoft YaHei"/>
              </a:rPr>
              <a:t>口径确认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27248"/>
            <a:ext cx="19933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57189"/>
                </a:solidFill>
                <a:latin typeface="Microsoft YaHei"/>
              </a:rPr>
              <a:t>15 个项目审查项矩阵
待复核项责任人 / 截止时间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6464" y="40873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4096511"/>
            <a:ext cx="9326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2F6BFF"/>
                </a:solidFill>
                <a:latin typeface="Microsoft YaHei"/>
              </a:rPr>
              <a:t>完成门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792224"/>
            <a:ext cx="2468880" cy="2788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792224"/>
            <a:ext cx="2468880" cy="457200"/>
          </a:xfrm>
          <a:prstGeom prst="rect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92024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第 2 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560320"/>
            <a:ext cx="20482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33A"/>
                </a:solidFill>
                <a:latin typeface="Microsoft YaHei"/>
              </a:rPr>
              <a:t>验证与整改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127248"/>
            <a:ext cx="19933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57189"/>
                </a:solidFill>
                <a:latin typeface="Microsoft YaHei"/>
              </a:rPr>
              <a:t>关键流程回归
真实项目抽样验收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7096" y="40873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7096" y="4096511"/>
            <a:ext cx="9326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0C2D7"/>
                </a:solidFill>
                <a:latin typeface="Microsoft YaHei"/>
              </a:rPr>
              <a:t>完成门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1" y="1792224"/>
            <a:ext cx="2468880" cy="2788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1792224"/>
            <a:ext cx="2468880" cy="457200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192024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第 3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560320"/>
            <a:ext cx="20482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33A"/>
                </a:solidFill>
                <a:latin typeface="Microsoft YaHei"/>
              </a:rPr>
              <a:t>版本与恢复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5" y="3127248"/>
            <a:ext cx="19933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57189"/>
                </a:solidFill>
                <a:latin typeface="Microsoft YaHei"/>
              </a:rPr>
              <a:t>Git Tag / 镜像摘要
RDS、OSS、配置恢复演练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7727" y="40873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7" y="4096511"/>
            <a:ext cx="9326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7D5FFF"/>
                </a:solidFill>
                <a:latin typeface="Microsoft YaHei"/>
              </a:rPr>
              <a:t>完成门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0264" y="1792224"/>
            <a:ext cx="2468880" cy="2788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0264" y="1792224"/>
            <a:ext cx="2468880" cy="457200"/>
          </a:xfrm>
          <a:prstGeom prst="rect">
            <a:avLst/>
          </a:prstGeom>
          <a:solidFill>
            <a:srgbClr val="1F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0264" y="192024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第 4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560320"/>
            <a:ext cx="20482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33A"/>
                </a:solidFill>
                <a:latin typeface="Microsoft YaHei"/>
              </a:rPr>
              <a:t>归档与移交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8008" y="3127248"/>
            <a:ext cx="199339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657189"/>
                </a:solidFill>
                <a:latin typeface="Microsoft YaHei"/>
              </a:rPr>
              <a:t>最终报告 / 用户手册
运维清单 / 培训签收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40873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4096511"/>
            <a:ext cx="93268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FBE89"/>
                </a:solidFill>
                <a:latin typeface="Microsoft YaHei"/>
              </a:rPr>
              <a:t>完成门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956048"/>
            <a:ext cx="10881360" cy="1033271"/>
          </a:xfrm>
          <a:prstGeom prst="roundRect">
            <a:avLst>
              <a:gd name="adj" fmla="val 12000"/>
            </a:avLst>
          </a:prstGeom>
          <a:solidFill>
            <a:srgbClr val="0A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7608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0C2D7"/>
                </a:solidFill>
                <a:latin typeface="Microsoft YaHei"/>
              </a:rPr>
              <a:t>最终交付包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4288" y="5230368"/>
            <a:ext cx="86502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验收报告  ·  测试报告  ·  结题计划书  ·  用户手册  ·  发布清单  ·  备份恢复记录  ·  培训签收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519672"/>
            <a:ext cx="10881360" cy="0"/>
          </a:xfrm>
          <a:prstGeom prst="line">
            <a:avLst/>
          </a:prstGeom>
          <a:ln w="8890">
            <a:solidFill>
              <a:srgbClr val="DC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565392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57189"/>
                </a:solidFill>
                <a:latin typeface="Microsoft YaHei"/>
              </a:rPr>
              <a:t>数据来源：Git 提交历史、生产数据库只读聚合、应用日志与当前容器健康状态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731520"/>
            <a:ext cx="4297680" cy="429768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3566160"/>
            <a:ext cx="3017520" cy="3017520"/>
          </a:xfrm>
          <a:prstGeom prst="ellipse">
            <a:avLst/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03504"/>
            <a:ext cx="1234440" cy="420624"/>
          </a:xfrm>
          <a:prstGeom prst="roundRect">
            <a:avLst>
              <a:gd name="adj" fmla="val 12000"/>
            </a:avLst>
          </a:prstGeom>
          <a:solidFill>
            <a:srgbClr val="00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0A1530"/>
                </a:solidFill>
                <a:latin typeface="Microsoft YaHei"/>
              </a:rPr>
              <a:t>XTJS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0C2D7"/>
                </a:solidFill>
                <a:latin typeface="Microsoft YaHei"/>
              </a:rPr>
              <a:t>结题结论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7665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核心链路已跑通
真实项目已验证
具备阶段性结题基础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78224"/>
            <a:ext cx="6766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BCC9E3"/>
                </a:solidFill>
                <a:latin typeface="Microsoft YaHei"/>
              </a:rPr>
              <a:t>下一步：关闭待复核项，固化可恢复版本，完成正式验收与移交。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846320"/>
            <a:ext cx="6291072" cy="5029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23036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5952" y="636422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798BB3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